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83" r:id="rId2"/>
    <p:sldId id="257" r:id="rId3"/>
    <p:sldId id="297" r:id="rId4"/>
    <p:sldId id="285" r:id="rId5"/>
    <p:sldId id="278" r:id="rId6"/>
    <p:sldId id="281" r:id="rId7"/>
    <p:sldId id="279" r:id="rId8"/>
    <p:sldId id="291" r:id="rId9"/>
    <p:sldId id="262" r:id="rId10"/>
    <p:sldId id="264" r:id="rId11"/>
    <p:sldId id="277" r:id="rId12"/>
    <p:sldId id="290" r:id="rId13"/>
    <p:sldId id="292" r:id="rId14"/>
    <p:sldId id="293" r:id="rId15"/>
    <p:sldId id="294" r:id="rId16"/>
    <p:sldId id="286" r:id="rId17"/>
    <p:sldId id="295" r:id="rId18"/>
    <p:sldId id="287" r:id="rId19"/>
    <p:sldId id="280" r:id="rId20"/>
    <p:sldId id="296" r:id="rId21"/>
    <p:sldId id="288" r:id="rId22"/>
    <p:sldId id="289"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25A58C9-21EF-A8AF-D59C-31AE7D9D342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E513820-1891-4551-180C-A2B8273752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B100459-9439-0438-1D13-F6FA5CCB85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6532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7C15A40-6AD6-0037-4A3E-D17CA878509E}"/>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D8DD84B4-FAE2-6DED-641D-389A8241D4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4ACEFE77-AE6E-C935-5A0D-38C596C7C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704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741AE1FD-A270-36A2-87B2-A8FC9FFE2CCE}"/>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59E45244-99BF-179F-8BE4-3EACC7EFA8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564B54BF-771E-3213-6D3E-241DD1BC1A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069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070140B-D440-661A-20B5-9614E75F4AF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169BBD0-2DB9-DA0F-7567-13FAF9A8E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2CE7991-D34F-1211-1E8B-49315B836D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501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hobhit.Prajapati.1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5413833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Mr. Shobhit Prajapati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shobhit.Prajapati.14@gmail.com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9927720699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4">
            <a:alphaModFix/>
          </a:blip>
          <a:srcRect/>
          <a:stretch/>
        </p:blipFill>
        <p:spPr>
          <a:xfrm>
            <a:off x="4053024" y="3747482"/>
            <a:ext cx="762500" cy="783680"/>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[Research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3ABD68B-B2D4-13C0-5998-1E95245ED3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D0A51B-951A-6077-F865-6179F2410720}"/>
              </a:ext>
            </a:extLst>
          </p:cNvPr>
          <p:cNvSpPr txBox="1"/>
          <p:nvPr/>
        </p:nvSpPr>
        <p:spPr>
          <a:xfrm>
            <a:off x="576072" y="1234440"/>
            <a:ext cx="10607040" cy="5232202"/>
          </a:xfrm>
          <a:prstGeom prst="rect">
            <a:avLst/>
          </a:prstGeom>
          <a:noFill/>
        </p:spPr>
        <p:txBody>
          <a:bodyPr wrap="square" rtlCol="0">
            <a:spAutoFit/>
          </a:bodyPr>
          <a:lstStyle/>
          <a:p>
            <a:pPr fontAlgn="base"/>
            <a:r>
              <a:rPr lang="en-US" sz="1600" b="1" dirty="0"/>
              <a:t>Problem Statement : Research Agent</a:t>
            </a:r>
            <a:r>
              <a:rPr lang="en-US" sz="1600" dirty="0"/>
              <a:t> </a:t>
            </a:r>
          </a:p>
          <a:p>
            <a:pPr fontAlgn="base"/>
            <a:endParaRPr lang="en-US" sz="1600" b="1" dirty="0"/>
          </a:p>
          <a:p>
            <a:pPr fontAlgn="base"/>
            <a:r>
              <a:rPr lang="en-US" sz="1600" b="1" dirty="0"/>
              <a:t>The Challenge</a:t>
            </a:r>
            <a:r>
              <a:rPr lang="en-US" sz="1600" dirty="0"/>
              <a:t> </a:t>
            </a:r>
          </a:p>
          <a:p>
            <a:pPr fontAlgn="base"/>
            <a:r>
              <a:rPr lang="en-US" sz="1600" dirty="0"/>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a:t>
            </a:r>
            <a:r>
              <a:rPr lang="en-US" sz="1600" b="1" dirty="0"/>
              <a:t>synthesize, analyze, and generate actionable research insights </a:t>
            </a:r>
            <a:r>
              <a:rPr lang="en-US" sz="1600" dirty="0"/>
              <a:t>in real time. </a:t>
            </a:r>
          </a:p>
          <a:p>
            <a:pPr fontAlgn="base"/>
            <a:endParaRPr lang="en-US" sz="1600" dirty="0"/>
          </a:p>
          <a:p>
            <a:pPr fontAlgn="base"/>
            <a:r>
              <a:rPr lang="en-US" sz="1600" b="1" dirty="0"/>
              <a:t>The Objective</a:t>
            </a:r>
            <a:r>
              <a:rPr lang="en-US" sz="1600" dirty="0"/>
              <a:t> </a:t>
            </a:r>
          </a:p>
          <a:p>
            <a:pPr fontAlgn="base"/>
            <a:r>
              <a:rPr lang="en-US" sz="1600" dirty="0"/>
              <a:t>Build an </a:t>
            </a:r>
            <a:r>
              <a:rPr lang="en-US" sz="1600" b="1" dirty="0"/>
              <a:t>agentic AI application </a:t>
            </a:r>
            <a:r>
              <a:rPr lang="en-US" sz="1600" dirty="0"/>
              <a:t>that acts as an intelligent research companion. The solution should:  </a:t>
            </a:r>
          </a:p>
          <a:p>
            <a:endParaRPr lang="en-US" sz="1600" dirty="0"/>
          </a:p>
          <a:p>
            <a:pPr marL="690563" indent="-293688">
              <a:buFont typeface="+mj-lt"/>
              <a:buAutoNum type="arabicPeriod"/>
            </a:pPr>
            <a:r>
              <a:rPr lang="en-US" sz="1600" b="1" dirty="0"/>
              <a:t>Fuse Academic Sources: </a:t>
            </a:r>
            <a:r>
              <a:rPr lang="en-US" sz="1600" dirty="0"/>
              <a:t>Aggregate data from research papers, journals, preprints, and knowledge repositories, then synthesize them into clear, concise literature reviews. </a:t>
            </a:r>
          </a:p>
          <a:p>
            <a:pPr marL="690563" indent="-293688">
              <a:buFont typeface="+mj-lt"/>
              <a:buAutoNum type="arabicPeriod"/>
            </a:pPr>
            <a:r>
              <a:rPr lang="en-US" sz="1600" b="1" dirty="0"/>
              <a:t>Enable Multimodal Research Input: </a:t>
            </a:r>
            <a:r>
              <a:rPr lang="en-US" sz="1600" dirty="0"/>
              <a:t>Accept user queries, notes, charts, or even PDFs, and convert them into structured insights, references, and summaries. </a:t>
            </a:r>
          </a:p>
          <a:p>
            <a:pPr marL="690563" indent="-293688">
              <a:buFont typeface="+mj-lt"/>
              <a:buAutoNum type="arabicPeriod"/>
            </a:pPr>
            <a:r>
              <a:rPr lang="en-US" sz="1600" b="1" dirty="0"/>
              <a:t>Create a Predictive &amp; Agentic Layer: </a:t>
            </a:r>
            <a:r>
              <a:rPr lang="en-US" sz="1600" dirty="0"/>
              <a:t>Highlight emerging trends, detect citation gaps, and predict promising directions for future research in a given domain. </a:t>
            </a:r>
          </a:p>
          <a:p>
            <a:pPr marL="690563" indent="-293688">
              <a:buFont typeface="+mj-lt"/>
              <a:buAutoNum type="arabicPeriod"/>
            </a:pPr>
            <a:r>
              <a:rPr lang="en-US" sz="1600" b="1" dirty="0"/>
              <a:t>Visualize Research Insights: </a:t>
            </a:r>
            <a:r>
              <a:rPr lang="en-US" sz="1600" dirty="0"/>
              <a:t>Provide an interactive dashboard with topic clusters, citation maps, sentiment/trend analysis, and concise knowledge graphs. </a:t>
            </a:r>
          </a:p>
          <a:p>
            <a:pPr fontAlgn="base"/>
            <a:endParaRPr lang="en-US" sz="1600" dirty="0"/>
          </a:p>
          <a:p>
            <a:endParaRPr lang="en-IN" dirty="0"/>
          </a:p>
        </p:txBody>
      </p:sp>
      <p:sp>
        <p:nvSpPr>
          <p:cNvPr id="3" name="TextBox 2">
            <a:extLst>
              <a:ext uri="{FF2B5EF4-FFF2-40B4-BE49-F238E27FC236}">
                <a16:creationId xmlns:a16="http://schemas.microsoft.com/office/drawing/2014/main" id="{1477AB21-B733-805E-7163-522968E37A2E}"/>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43034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792146"/>
          </a:xfrm>
          <a:prstGeom prst="rect">
            <a:avLst/>
          </a:prstGeom>
          <a:noFill/>
        </p:spPr>
        <p:txBody>
          <a:bodyPr wrap="square" rtlCol="0">
            <a:spAutoFit/>
          </a:bodyPr>
          <a:lstStyle/>
          <a:p>
            <a:pPr fontAlgn="base"/>
            <a:endParaRPr lang="en-US" b="1" dirty="0"/>
          </a:p>
          <a:p>
            <a:pPr>
              <a:lnSpc>
                <a:spcPct val="150000"/>
              </a:lnSpc>
            </a:pPr>
            <a:r>
              <a:rPr lang="en-US" b="1" dirty="0"/>
              <a:t>Proposed Solution: AI-Powered Research Agent</a:t>
            </a:r>
          </a:p>
          <a:p>
            <a:pPr>
              <a:lnSpc>
                <a:spcPct val="150000"/>
              </a:lnSpc>
            </a:pPr>
            <a:r>
              <a:rPr lang="en-US" dirty="0"/>
              <a:t>The proposed solution is a multi-agent, AI-powered </a:t>
            </a:r>
            <a:r>
              <a:rPr lang="en-US" b="1" dirty="0"/>
              <a:t>Research Agent</a:t>
            </a:r>
            <a:r>
              <a:rPr lang="en-US" dirty="0"/>
              <a:t> built using </a:t>
            </a:r>
            <a:r>
              <a:rPr lang="en-US" b="1" dirty="0"/>
              <a:t>IBM Bob, IBM watsonx.ai, and Granite Models</a:t>
            </a:r>
            <a:r>
              <a:rPr lang="en-US" dirty="0"/>
              <a:t> to provide personalized, real-time academic and market intelligence. The system addresses deep-seated challenges in literature review, data synthesis, and trend forecasting through an intelligent, modular architecture.</a:t>
            </a:r>
          </a:p>
          <a:p>
            <a:pPr>
              <a:lnSpc>
                <a:spcPct val="150000"/>
              </a:lnSpc>
            </a:pPr>
            <a:endParaRPr lang="en-US" dirty="0"/>
          </a:p>
          <a:p>
            <a:pPr>
              <a:lnSpc>
                <a:spcPct val="150000"/>
              </a:lnSpc>
            </a:pPr>
            <a:r>
              <a:rPr lang="en-US" dirty="0"/>
              <a:t>The system consists of four key agents:</a:t>
            </a:r>
          </a:p>
          <a:p>
            <a:pPr marL="285750" indent="-285750">
              <a:lnSpc>
                <a:spcPct val="150000"/>
              </a:lnSpc>
              <a:buFont typeface="Courier New" panose="02070309020205020404" pitchFamily="49" charset="0"/>
              <a:buChar char="o"/>
            </a:pPr>
            <a:r>
              <a:rPr lang="en-US" b="1" dirty="0"/>
              <a:t>Literature Synthesis Agent:</a:t>
            </a:r>
            <a:r>
              <a:rPr lang="en-US" dirty="0"/>
              <a:t> Retrieves, filters, and summarizes dense academic or market information using the RAG pipeline to eliminate manual sourcing fatigue.</a:t>
            </a:r>
          </a:p>
          <a:p>
            <a:pPr marL="285750" indent="-285750">
              <a:lnSpc>
                <a:spcPct val="150000"/>
              </a:lnSpc>
              <a:buFont typeface="Courier New" panose="02070309020205020404" pitchFamily="49" charset="0"/>
              <a:buChar char="o"/>
            </a:pPr>
            <a:r>
              <a:rPr lang="en-US" b="1" dirty="0"/>
              <a:t>Methodology &amp; Outline Agent:</a:t>
            </a:r>
            <a:r>
              <a:rPr lang="en-US" dirty="0"/>
              <a:t> Generates tailored research frameworks, study designs, or report outlines based on user inputs such as research domain, scope constraints, and core objectives.</a:t>
            </a:r>
          </a:p>
          <a:p>
            <a:pPr marL="285750" indent="-285750">
              <a:lnSpc>
                <a:spcPct val="150000"/>
              </a:lnSpc>
              <a:buFont typeface="Courier New" panose="02070309020205020404" pitchFamily="49" charset="0"/>
              <a:buChar char="o"/>
            </a:pPr>
            <a:r>
              <a:rPr lang="en-US" b="1" dirty="0"/>
              <a:t>Critical Analysis &amp; Trend Agent:</a:t>
            </a:r>
            <a:r>
              <a:rPr lang="en-US" dirty="0"/>
              <a:t> Provides deep analytical insights, identifying research gaps, cross-domain correlations, and predictive industry trends within the ingested literature.</a:t>
            </a:r>
          </a:p>
          <a:p>
            <a:pPr marL="285750" indent="-285750">
              <a:lnSpc>
                <a:spcPct val="150000"/>
              </a:lnSpc>
              <a:buFont typeface="Courier New" panose="02070309020205020404" pitchFamily="49" charset="0"/>
              <a:buChar char="o"/>
            </a:pPr>
            <a:r>
              <a:rPr lang="en-US" b="1" dirty="0"/>
              <a:t>Source Ingestion &amp; Citation Agent:</a:t>
            </a:r>
            <a:r>
              <a:rPr lang="en-US" dirty="0"/>
              <a:t> Allows researchers to upload raw reference materials via text, documents, or audio notes, delivering instant structural analysis and automated, compliant citation feedback.</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rcRect/>
          <a:stretch/>
        </p:blipFill>
        <p:spPr>
          <a:xfrm>
            <a:off x="4014215" y="2290071"/>
            <a:ext cx="7868367" cy="3653731"/>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rcRect/>
          <a:stretch/>
        </p:blipFill>
        <p:spPr>
          <a:xfrm>
            <a:off x="1371600" y="1688923"/>
            <a:ext cx="9217740" cy="428032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rcRect/>
          <a:stretch/>
        </p:blipFill>
        <p:spPr>
          <a:xfrm>
            <a:off x="365760" y="675733"/>
            <a:ext cx="11551920" cy="55929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45815"/>
          </a:xfrm>
          <a:prstGeom prst="rect">
            <a:avLst/>
          </a:prstGeom>
          <a:noFill/>
        </p:spPr>
        <p:txBody>
          <a:bodyPr wrap="square" rtlCol="0">
            <a:spAutoFit/>
          </a:bodyPr>
          <a:lstStyle/>
          <a:p>
            <a:r>
              <a:rPr lang="en-US" b="1" dirty="0"/>
              <a:t>Role of Agentic AI in Research Agent</a:t>
            </a:r>
          </a:p>
          <a:p>
            <a:pPr algn="just">
              <a:lnSpc>
                <a:spcPct val="150000"/>
              </a:lnSpc>
            </a:pPr>
            <a:r>
              <a:rPr lang="en-US" dirty="0"/>
              <a:t>Agentic AI acts as an autonomous orchestrator that transforms your application from a static search filter into a living, reasoning research companion. For </a:t>
            </a:r>
            <a:r>
              <a:rPr lang="en-US" b="1" dirty="0"/>
              <a:t>Academic Fusion</a:t>
            </a:r>
            <a:r>
              <a:rPr lang="en-US" dirty="0"/>
              <a:t>, the AI functions as a decomposition engine, breaking down complex research requests, delegating tasks to dedicated scraping tools, and actively resolving source contradictions through automated debate loops. For </a:t>
            </a:r>
            <a:r>
              <a:rPr lang="en-US" b="1" dirty="0"/>
              <a:t>Multimodal Input</a:t>
            </a:r>
            <a:r>
              <a:rPr lang="en-US" dirty="0"/>
              <a:t>, it serves as a dynamic interpreter that selects the right specialized tool—like a vision model for charts or a python script for data to map user uploads into unified text insights. In the </a:t>
            </a:r>
            <a:r>
              <a:rPr lang="en-US" b="1" dirty="0"/>
              <a:t>Predictive Layer</a:t>
            </a:r>
            <a:r>
              <a:rPr lang="en-US" dirty="0"/>
              <a:t>, the agent's proactive autonomy shines as it maps citation networks to uncover hidden blind spots and analyzes preprint data velocities to forecast emerging trends. Finally, for </a:t>
            </a:r>
            <a:r>
              <a:rPr lang="en-US" b="1" dirty="0"/>
              <a:t>Visualization</a:t>
            </a:r>
            <a:r>
              <a:rPr lang="en-US" dirty="0"/>
              <a:t>, the agent acts as a data architect, extracting semantic triplets from dense papers in real time and structuring them into dynamic JSON payloads that automatically build your interactive knowledge graphs and dashboards.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l="16898" r="2354"/>
          <a:stretch>
            <a:fillRect/>
          </a:stretch>
        </p:blipFill>
        <p:spPr>
          <a:xfrm>
            <a:off x="307874" y="2784070"/>
            <a:ext cx="5300445" cy="4155210"/>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l="16547" r="2431"/>
          <a:stretch>
            <a:fillRect/>
          </a:stretch>
        </p:blipFill>
        <p:spPr>
          <a:xfrm>
            <a:off x="6974748" y="2800370"/>
            <a:ext cx="4638132" cy="4155209"/>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409144" y="1033760"/>
            <a:ext cx="11163874" cy="541896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561749" y="1118407"/>
            <a:ext cx="10493347" cy="506066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04493" y="1217824"/>
            <a:ext cx="10583014" cy="510942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CB5A1F4-EAD6-4EA5-D392-88D3D6CC98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E99501-074B-58FC-F240-0865358AB55F}"/>
              </a:ext>
            </a:extLst>
          </p:cNvPr>
          <p:cNvSpPr txBox="1"/>
          <p:nvPr/>
        </p:nvSpPr>
        <p:spPr>
          <a:xfrm>
            <a:off x="777240" y="49479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8E891BAC-E651-BB06-79CC-D2F411C6408C}"/>
              </a:ext>
            </a:extLst>
          </p:cNvPr>
          <p:cNvSpPr txBox="1"/>
          <p:nvPr/>
        </p:nvSpPr>
        <p:spPr>
          <a:xfrm>
            <a:off x="777240" y="1207008"/>
            <a:ext cx="11301984" cy="5223033"/>
          </a:xfrm>
          <a:prstGeom prst="rect">
            <a:avLst/>
          </a:prstGeom>
          <a:noFill/>
        </p:spPr>
        <p:txBody>
          <a:bodyPr wrap="square" rtlCol="0">
            <a:spAutoFit/>
          </a:bodyPr>
          <a:lstStyle/>
          <a:p>
            <a:pPr algn="just">
              <a:lnSpc>
                <a:spcPct val="150000"/>
              </a:lnSpc>
            </a:pPr>
            <a:r>
              <a:rPr lang="en-US" sz="1800" dirty="0"/>
              <a:t>The novelty and uniqueness of your project lie in transforming a traditional, reactive research engine into an autonomous, self-correcting ecosystem through multi-agent orchestration. Unlike standard AI tools that merely summarize text or find keywords, your application utilizes an adversarial "debate loop" to resolve conflicting scientific papers by isolating methodology differences, and pairs vision models with a sandboxed Python execution layer to mathematically re-verify chart data from uploaded PDFs in real time. Furthermore, its predictive layer shifts the user experience from reactive searching to proactive discovery by analyzing preprint velocities to uncover "citation gaps" (unexplored hybrid territories), while simultaneously functioning as a data architect that parses real-time text into semantic triplets to dynamically morph the frontend dashboard—spinning up polarized timelines or complex knowledge graphs based entirely on the specific research context.</a:t>
            </a:r>
          </a:p>
          <a:p>
            <a:pPr algn="just">
              <a:lnSpc>
                <a:spcPct val="150000"/>
              </a:lnSpc>
            </a:pPr>
            <a:endParaRPr lang="en-US" sz="1800" dirty="0"/>
          </a:p>
          <a:p>
            <a:endParaRPr lang="en-US" sz="1800" dirty="0"/>
          </a:p>
          <a:p>
            <a:pPr algn="just">
              <a:lnSpc>
                <a:spcPct val="150000"/>
              </a:lnSpc>
            </a:pPr>
            <a:endParaRPr lang="en-IN" dirty="0"/>
          </a:p>
        </p:txBody>
      </p:sp>
    </p:spTree>
    <p:extLst>
      <p:ext uri="{BB962C8B-B14F-4D97-AF65-F5344CB8AC3E}">
        <p14:creationId xmlns:p14="http://schemas.microsoft.com/office/powerpoint/2010/main" val="33500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9479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709255"/>
          </a:xfrm>
          <a:prstGeom prst="rect">
            <a:avLst/>
          </a:prstGeom>
          <a:noFill/>
        </p:spPr>
        <p:txBody>
          <a:bodyPr wrap="square" rtlCol="0">
            <a:spAutoFit/>
          </a:bodyPr>
          <a:lstStyle/>
          <a:p>
            <a:pPr algn="just">
              <a:lnSpc>
                <a:spcPct val="150000"/>
              </a:lnSpc>
            </a:pPr>
            <a:r>
              <a:rPr lang="en-US" sz="1800" b="1" dirty="0"/>
              <a:t>Multi-Agent Debate Loops for Contradiction Resolution</a:t>
            </a:r>
          </a:p>
          <a:p>
            <a:pPr algn="just">
              <a:lnSpc>
                <a:spcPct val="150000"/>
              </a:lnSpc>
            </a:pPr>
            <a:r>
              <a:rPr lang="en-US" sz="1800" dirty="0"/>
              <a:t>Unlike standard RAG tools that simply blend contradictory scientific data into a generic middle ground, your project introduces adversarial multi-agent orchestration. When synthesizing literature reviews, a Lead Agent deploys sub-agents to critique retrieved papers; if two studies present conflicting results, the agents enter an internal debate loop to isolate differences in sample sizes, algorithms, or methodologies, delivering a rigorous, peer-review-grade consensus.</a:t>
            </a:r>
          </a:p>
          <a:p>
            <a:pPr algn="just">
              <a:lnSpc>
                <a:spcPct val="150000"/>
              </a:lnSpc>
            </a:pPr>
            <a:endParaRPr lang="en-US" sz="1800" dirty="0"/>
          </a:p>
          <a:p>
            <a:pPr algn="just">
              <a:lnSpc>
                <a:spcPct val="150000"/>
              </a:lnSpc>
            </a:pPr>
            <a:r>
              <a:rPr lang="en-US" sz="1800" b="1" dirty="0"/>
              <a:t>Sandboxed Python Execution for Multimodal Verification</a:t>
            </a:r>
          </a:p>
          <a:p>
            <a:pPr algn="just">
              <a:lnSpc>
                <a:spcPct val="150000"/>
              </a:lnSpc>
            </a:pPr>
            <a:r>
              <a:rPr lang="en-US" sz="1800" dirty="0"/>
              <a:t>While traditional AI can only generate a static text description of a chart or table, your companion features a dynamic execution layer that bridges the gap between raw pixels and scientific truth. When a user uploads a PDF or image, the agent uses vision models to extract graph coordinates, automatically writes a Python script to recalculate trend lines and error margins in a secure sandbox, and verifies the paper's empirical claims against global data repositories in real time.</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9AB95FC0-BDC3-2474-179B-CBEA2FFBBE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CB5293-FE25-54DF-DD6E-2351897B09E9}"/>
              </a:ext>
            </a:extLst>
          </p:cNvPr>
          <p:cNvSpPr txBox="1"/>
          <p:nvPr/>
        </p:nvSpPr>
        <p:spPr>
          <a:xfrm>
            <a:off x="777240" y="49479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182636BC-E28C-8279-4D23-EEDD58F61166}"/>
              </a:ext>
            </a:extLst>
          </p:cNvPr>
          <p:cNvSpPr txBox="1"/>
          <p:nvPr/>
        </p:nvSpPr>
        <p:spPr>
          <a:xfrm>
            <a:off x="777240" y="999986"/>
            <a:ext cx="11301984" cy="5442516"/>
          </a:xfrm>
          <a:prstGeom prst="rect">
            <a:avLst/>
          </a:prstGeom>
          <a:noFill/>
        </p:spPr>
        <p:txBody>
          <a:bodyPr wrap="square" rtlCol="0">
            <a:spAutoFit/>
          </a:bodyPr>
          <a:lstStyle/>
          <a:p>
            <a:pPr algn="just">
              <a:lnSpc>
                <a:spcPct val="150000"/>
              </a:lnSpc>
            </a:pPr>
            <a:r>
              <a:rPr lang="en-US" sz="1800" b="1" dirty="0"/>
              <a:t>Network Topology for Proactive Citation Gap Discovery</a:t>
            </a:r>
          </a:p>
          <a:p>
            <a:pPr algn="just">
              <a:lnSpc>
                <a:spcPct val="150000"/>
              </a:lnSpc>
            </a:pPr>
            <a:r>
              <a:rPr lang="en-US" sz="1800" dirty="0"/>
              <a:t>Current academic discovery engines are entirely reactive, requiring researchers to already know what keywords to search for. The uniqueness of your predictive layer lies in treating the global research landscape as an evolving network topology; by tracking keyword acceleration in preprints and analyzing citation directions, the agent proactively maps out "citation gaps"—identifying completely unexplored hybrid territories and forecasting "blue ocean" research directions before they become saturated.</a:t>
            </a:r>
          </a:p>
          <a:p>
            <a:pPr algn="just">
              <a:lnSpc>
                <a:spcPct val="150000"/>
              </a:lnSpc>
            </a:pPr>
            <a:endParaRPr lang="en-US" sz="1800" b="1" dirty="0"/>
          </a:p>
          <a:p>
            <a:pPr algn="just">
              <a:lnSpc>
                <a:spcPct val="150000"/>
              </a:lnSpc>
            </a:pPr>
            <a:r>
              <a:rPr lang="en-US" sz="1800" b="1" dirty="0"/>
              <a:t>Context-Mutating Dashboards via Semantic Triplet Architecture</a:t>
            </a:r>
          </a:p>
          <a:p>
            <a:pPr algn="just">
              <a:lnSpc>
                <a:spcPct val="150000"/>
              </a:lnSpc>
            </a:pPr>
            <a:r>
              <a:rPr lang="en-US" sz="1800" dirty="0"/>
              <a:t>Typical research platforms offer rigid, hardcoded user interfaces with fixed metrics regardless of the topic. Your application breaks this mold by using agentic AI as a real-time data architect that extracts semantic triplets directly from text to dictate the frontend layout; this allows the dashboard to completely mutate its structure based on the research domain, dynamically spinning up a polarized timeline during a fierce scientific debate or a dense topological cluster map during an interdisciplinary study.</a:t>
            </a:r>
            <a:endParaRPr lang="en-IN" dirty="0"/>
          </a:p>
        </p:txBody>
      </p:sp>
    </p:spTree>
    <p:extLst>
      <p:ext uri="{BB962C8B-B14F-4D97-AF65-F5344CB8AC3E}">
        <p14:creationId xmlns:p14="http://schemas.microsoft.com/office/powerpoint/2010/main" val="2310594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https://github.com/shobhitrke/IBM-Skills-Build-Research-Agent-.git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(Done)</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2) Your problemstatement.pdf file  (Done)</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3) your projectpresntation.pptx file (Done)</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gn="just">
              <a:lnSpc>
                <a:spcPct val="150000"/>
              </a:lnSpc>
            </a:pPr>
            <a:r>
              <a:rPr lang="en-US" sz="1800" b="1" dirty="0"/>
              <a:t>1.</a:t>
            </a:r>
            <a:r>
              <a:rPr lang="en-US" sz="1800" dirty="0"/>
              <a:t> </a:t>
            </a:r>
            <a:r>
              <a:rPr lang="en-US" sz="1800" b="1" dirty="0"/>
              <a:t>Automated Hypothesis Generation</a:t>
            </a:r>
          </a:p>
          <a:p>
            <a:pPr algn="just">
              <a:lnSpc>
                <a:spcPct val="150000"/>
              </a:lnSpc>
            </a:pPr>
            <a:r>
              <a:rPr lang="en-US" sz="1800" dirty="0"/>
              <a:t>Moving beyond discovering research gaps, the next phase will enable the agent to autonomously generate entirely new scientific hypotheses and design experimental methodologies, testing them inside simulated code environments before human verification.</a:t>
            </a:r>
          </a:p>
          <a:p>
            <a:pPr algn="just">
              <a:lnSpc>
                <a:spcPct val="150000"/>
              </a:lnSpc>
            </a:pPr>
            <a:endParaRPr lang="en-US" sz="1800" b="1" dirty="0"/>
          </a:p>
          <a:p>
            <a:pPr algn="just">
              <a:lnSpc>
                <a:spcPct val="150000"/>
              </a:lnSpc>
            </a:pPr>
            <a:r>
              <a:rPr lang="en-US" sz="1800" b="1" dirty="0"/>
              <a:t>2. Universal Integration via MCP</a:t>
            </a:r>
          </a:p>
          <a:p>
            <a:pPr algn="just">
              <a:lnSpc>
                <a:spcPct val="150000"/>
              </a:lnSpc>
            </a:pPr>
            <a:r>
              <a:rPr lang="en-US" sz="1800" dirty="0"/>
              <a:t>By implementing the Model Context Protocol (MCP), the platform will transition from custom API wrappers to a unified, open standard—allowing the agent to seamlessly plug into any secure institutional repository, private enterprise database, or premium scientific journal worldwide.</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8CC7F58-B074-FF61-2D48-C1E6A115991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F9C4D24-9437-73F7-301A-64BCA728C4A0}"/>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5667DFA6-44AB-A543-CEC5-81EAF7E0B67B}"/>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gn="just">
              <a:lnSpc>
                <a:spcPct val="150000"/>
              </a:lnSpc>
            </a:pPr>
            <a:r>
              <a:rPr lang="en-US" sz="1800" b="1" dirty="0"/>
              <a:t>3. Remote Lab &amp; API Orchestration</a:t>
            </a:r>
          </a:p>
          <a:p>
            <a:pPr algn="just">
              <a:lnSpc>
                <a:spcPct val="150000"/>
              </a:lnSpc>
            </a:pPr>
            <a:r>
              <a:rPr lang="en-US" sz="1800" dirty="0"/>
              <a:t>Future iterations will extend the agent’s execution layer from software sandboxes to real-world cloud labs. Through external APIs, the agent will be able to design physical experiments, order their execution in remote automated labs, and pull the raw data back into the dashboard.</a:t>
            </a:r>
          </a:p>
          <a:p>
            <a:pPr algn="just">
              <a:lnSpc>
                <a:spcPct val="150000"/>
              </a:lnSpc>
            </a:pPr>
            <a:endParaRPr lang="en-US" sz="1800" b="1" dirty="0"/>
          </a:p>
          <a:p>
            <a:pPr algn="just">
              <a:lnSpc>
                <a:spcPct val="150000"/>
              </a:lnSpc>
            </a:pPr>
            <a:r>
              <a:rPr lang="en-US" sz="1800" b="1" dirty="0"/>
              <a:t>4. Decentralized Agent Networks</a:t>
            </a:r>
          </a:p>
          <a:p>
            <a:pPr algn="just">
              <a:lnSpc>
                <a:spcPct val="150000"/>
              </a:lnSpc>
            </a:pPr>
            <a:r>
              <a:rPr lang="en-US" sz="1800" dirty="0"/>
              <a:t>The ultimate scale involves connecting localized research agents into a secure, decentralized network. This will allow independent AI agents to securely query, negotiate, and share anonymized knowledge chunks across global institutions, accelerating breakthroughs via machine-to-machine peer review.</a:t>
            </a:r>
            <a:endParaRPr lang="en-US" sz="1050" dirty="0"/>
          </a:p>
          <a:p>
            <a:pPr lvl="0" algn="just">
              <a:lnSpc>
                <a:spcPct val="150000"/>
              </a:lnSpc>
              <a:buSzPts val="1850"/>
            </a:pPr>
            <a:endParaRPr sz="1050" dirty="0">
              <a:sym typeface="Times New Roman"/>
            </a:endParaRPr>
          </a:p>
        </p:txBody>
      </p:sp>
      <p:sp>
        <p:nvSpPr>
          <p:cNvPr id="280" name="Google Shape;280;p18">
            <a:extLst>
              <a:ext uri="{FF2B5EF4-FFF2-40B4-BE49-F238E27FC236}">
                <a16:creationId xmlns:a16="http://schemas.microsoft.com/office/drawing/2014/main" id="{B70711A8-8C4C-60F7-15FD-C76341BB12E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B564230-F96B-4AC1-777C-08EEB102D911}"/>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C870B16-7D8A-F778-12AA-0F8F6FDCE2D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85828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8C341-1F2F-9B6F-593F-2917E7E23DCB}"/>
              </a:ext>
            </a:extLst>
          </p:cNvPr>
          <p:cNvPicPr>
            <a:picLocks noChangeAspect="1"/>
          </p:cNvPicPr>
          <p:nvPr/>
        </p:nvPicPr>
        <p:blipFill>
          <a:blip r:embed="rId2"/>
          <a:srcRect/>
          <a:stretch/>
        </p:blipFill>
        <p:spPr>
          <a:xfrm>
            <a:off x="1556545" y="1485577"/>
            <a:ext cx="8217376"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122904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333" r="2333"/>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TotalTime>
  <Words>1691</Words>
  <Application>Microsoft Office PowerPoint</Application>
  <PresentationFormat>Widescreen</PresentationFormat>
  <Paragraphs>148</Paragraphs>
  <Slides>23</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Courier New</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Shobhit Kumar</cp:lastModifiedBy>
  <cp:revision>11</cp:revision>
  <dcterms:created xsi:type="dcterms:W3CDTF">2025-07-08T05:06:56Z</dcterms:created>
  <dcterms:modified xsi:type="dcterms:W3CDTF">2026-07-04T10:58:05Z</dcterms:modified>
</cp:coreProperties>
</file>